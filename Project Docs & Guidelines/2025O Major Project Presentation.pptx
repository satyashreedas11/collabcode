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2" r:id="rId1"/>
    <p:sldMasterId id="2147484988" r:id="rId2"/>
  </p:sldMasterIdLst>
  <p:notesMasterIdLst>
    <p:notesMasterId r:id="rId31"/>
  </p:notesMasterIdLst>
  <p:handoutMasterIdLst>
    <p:handoutMasterId r:id="rId32"/>
  </p:handoutMasterIdLst>
  <p:sldIdLst>
    <p:sldId id="325" r:id="rId3"/>
    <p:sldId id="839" r:id="rId4"/>
    <p:sldId id="840" r:id="rId5"/>
    <p:sldId id="841" r:id="rId6"/>
    <p:sldId id="859" r:id="rId7"/>
    <p:sldId id="884" r:id="rId8"/>
    <p:sldId id="885" r:id="rId9"/>
    <p:sldId id="886" r:id="rId10"/>
    <p:sldId id="881" r:id="rId11"/>
    <p:sldId id="887" r:id="rId12"/>
    <p:sldId id="843" r:id="rId13"/>
    <p:sldId id="845" r:id="rId14"/>
    <p:sldId id="883" r:id="rId15"/>
    <p:sldId id="888" r:id="rId16"/>
    <p:sldId id="872" r:id="rId17"/>
    <p:sldId id="889" r:id="rId18"/>
    <p:sldId id="890" r:id="rId19"/>
    <p:sldId id="873" r:id="rId20"/>
    <p:sldId id="876" r:id="rId21"/>
    <p:sldId id="891" r:id="rId22"/>
    <p:sldId id="854" r:id="rId23"/>
    <p:sldId id="878" r:id="rId24"/>
    <p:sldId id="880" r:id="rId25"/>
    <p:sldId id="879" r:id="rId26"/>
    <p:sldId id="860" r:id="rId27"/>
    <p:sldId id="882" r:id="rId28"/>
    <p:sldId id="857" r:id="rId29"/>
    <p:sldId id="858" r:id="rId30"/>
  </p:sldIdLst>
  <p:sldSz cx="9144000" cy="6858000" type="screen4x3"/>
  <p:notesSz cx="9942513" cy="6761163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41"/>
            <p14:sldId id="859"/>
            <p14:sldId id="884"/>
            <p14:sldId id="885"/>
            <p14:sldId id="886"/>
            <p14:sldId id="881"/>
            <p14:sldId id="887"/>
            <p14:sldId id="843"/>
            <p14:sldId id="845"/>
            <p14:sldId id="883"/>
            <p14:sldId id="888"/>
            <p14:sldId id="872"/>
            <p14:sldId id="889"/>
            <p14:sldId id="890"/>
            <p14:sldId id="873"/>
            <p14:sldId id="876"/>
            <p14:sldId id="891"/>
            <p14:sldId id="854"/>
            <p14:sldId id="878"/>
            <p14:sldId id="880"/>
            <p14:sldId id="879"/>
            <p14:sldId id="860"/>
            <p14:sldId id="882"/>
            <p14:sldId id="857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12" autoAdjust="0"/>
    <p:restoredTop sz="94088" autoAdjust="0"/>
  </p:normalViewPr>
  <p:slideViewPr>
    <p:cSldViewPr snapToGrid="0">
      <p:cViewPr varScale="1">
        <p:scale>
          <a:sx n="159" d="100"/>
          <a:sy n="159" d="100"/>
        </p:scale>
        <p:origin x="3176" y="176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30"/>
        <p:guide pos="3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 dirty="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93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72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5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42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60772DA-5EEF-F2DB-EA3A-53ED2791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0488" indent="0">
              <a:tabLst/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A4BD7D-405F-9CB0-AA2C-010D5B4F7D04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600">
                <a:latin typeface="Helvetica" pitchFamily="2" charset="0"/>
              </a:defRPr>
            </a:lvl4pPr>
            <a:lvl5pPr>
              <a:defRPr sz="1600">
                <a:latin typeface="Helvetica" pitchFamily="2" charset="0"/>
              </a:defRPr>
            </a:lvl5pPr>
          </a:lstStyle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490A3F-A374-7A6E-AF01-14E3ADC8E0A4}"/>
              </a:ext>
            </a:extLst>
          </p:cNvPr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47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F549-2A59-0EBE-B20C-FDD132AA0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5E6B-4232-7F47-6572-C584B624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181-A82F-DFFF-0C75-00D161BB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FD2-15E4-94FD-6B2F-AED1EAD5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875-6B38-F6E0-7F20-3D45C9D4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0DF3-5750-400D-C0A3-FD26910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C4B-D896-69F5-E7C3-62A4AB7A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7398-FDC7-1A26-6F22-383DEF79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A35C-7866-57F6-19ED-0D2C9294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EC1F-A855-3058-4205-BD676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3BD2-D04D-C43F-C5DB-F859BE6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6478-CD27-AAB2-D9C3-903711F7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A2-37B4-E9CC-9FE7-FA068FC4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65CB-C85A-1BEC-7089-2FDF5A62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C664-95ED-AD50-E01A-84573DB4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BCED-5EB5-47E1-0BF0-783FDEF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FF23-8CDF-00B4-69A6-7A113B7A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1131A-DEEA-72E3-2147-21823668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BF4E-F3EE-751A-3277-A34B448B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E018C-DE01-DD2D-91A4-8E4F4C4E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027FA-4DB8-8064-7F50-FC33CF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C92F-1A51-C9CF-592B-B791F2B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5-0196-29B0-0C59-AFC50C286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0ECBA-F070-B624-1183-A804AB30F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231DF-2850-ABEF-478F-712432FB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D5C47-74CF-B0D8-AF5E-B61C5DF6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D41A-DE03-A4C3-D852-98621722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D5BAC-5376-F14B-A7C2-6448B9DA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040C-B4AA-29B9-072C-53D2377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63-EB41-7519-D5D8-504BBCE0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473-481E-7A4E-0D15-CA8C9126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42F5-5CDF-FCB6-3FFD-50104AC0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8FF-0702-F585-C5E9-AF667AD1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166C8-F956-7DF6-EF97-BF79F049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DFCA2-8259-1499-BB18-43AF6234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F6BB-25BE-AE16-B87C-55A7EA6E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5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72F-13DF-2C8B-A02E-7FA8660C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A82C-ED11-0064-5D40-A0969ACE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AD5D-C77F-2DEB-F932-42D23B45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24465-317D-30C8-E120-77B8005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9908-C7A3-84A0-B790-860F5DA7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6993-9C35-41D2-39DB-C35CAC9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5142-42C2-98C6-191B-7D76312C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79E1E-F134-700D-EE57-D753560BA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3C7F-9F56-6EE4-7729-50E8E87A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8426-D088-EB2C-AA97-0F35A0F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4F67-DE2A-27E0-A332-10FED3D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3980A-1732-61A9-1869-56D8BB4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3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0EA8-09A8-DB4C-245F-2B2ACFA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735B-DE2A-097B-BF58-29178F6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F62-F6A7-8AA2-F96A-D569858A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2532-AE81-CABD-BF79-AE45984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80679-0A10-B48C-45F5-CD24BEF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BEC8-8876-DCEC-4C31-E710E5C6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7F8C-50FA-23DD-E83D-04B476814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E797-D19F-0A9F-0C01-A6181225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5B23-40E1-9EB6-E8AB-800821F5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A9C8-FF39-4ACB-2644-7DBFF35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0007-9E92-488F-FBC3-8F416B54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664E-E30C-F040-0357-44B0CD98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9917-0B98-9D01-2161-181852C1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CBC5-B5C7-CB3D-CD6C-C05C764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Monday, September 8, 2025</a:t>
            </a:fld>
            <a:endParaRPr lang="en-US" altLang="en-US" sz="1000" b="1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>
            <a:extLst>
              <a:ext uri="{FF2B5EF4-FFF2-40B4-BE49-F238E27FC236}">
                <a16:creationId xmlns:a16="http://schemas.microsoft.com/office/drawing/2014/main" id="{9C49182E-65AF-DD89-1EC9-BD22AFA98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1EF5F1E6-CB5A-2AA7-E80E-C34A90324CDF}"/>
              </a:ext>
            </a:extLst>
          </p:cNvPr>
          <p:cNvSpPr txBox="1">
            <a:spLocks/>
          </p:cNvSpPr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 (18B19CI791) Mid-Term Evaluation | Department of CSE &amp; IT | AY 2025-26. 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8C0F4A93-94A3-EEA3-40A0-2AA166503844}"/>
              </a:ext>
            </a:extLst>
          </p:cNvPr>
          <p:cNvSpPr txBox="1">
            <a:spLocks/>
          </p:cNvSpPr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E367-86B8-5C9F-E2DA-EA8B374AA0AD}"/>
              </a:ext>
            </a:extLst>
          </p:cNvPr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pPr algn="ctr"/>
              <a:t>‹#›</a:t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EF06-99F3-7E6C-9BF2-BD4BE618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1F65-9F9F-07B2-D418-72BC478B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8697-C660-8953-14A2-614079BB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EF59-EF14-9B74-67DE-1763E5B7A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D9C0-D19B-AF9A-1547-969981E0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  <p:sldLayoutId id="2147484993" r:id="rId5"/>
    <p:sldLayoutId id="2147484994" r:id="rId6"/>
    <p:sldLayoutId id="2147484995" r:id="rId7"/>
    <p:sldLayoutId id="2147484996" r:id="rId8"/>
    <p:sldLayoutId id="2147484997" r:id="rId9"/>
    <p:sldLayoutId id="2147484998" r:id="rId10"/>
    <p:sldLayoutId id="2147484999" r:id="rId11"/>
    <p:sldLayoutId id="21474850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11380"/>
            <a:ext cx="9144000" cy="759871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b="1" dirty="0">
                <a:cs typeface="Tahoma" panose="020B0604030504040204" pitchFamily="34" charset="0"/>
              </a:rPr>
              <a:t>Project Title</a:t>
            </a:r>
            <a:endParaRPr lang="en-US" altLang="en-US" sz="1400" b="1" dirty="0"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FB7B0-90E1-217E-359E-488BB2E7656E}"/>
              </a:ext>
            </a:extLst>
          </p:cNvPr>
          <p:cNvSpPr/>
          <p:nvPr/>
        </p:nvSpPr>
        <p:spPr>
          <a:xfrm>
            <a:off x="1457427" y="2108091"/>
            <a:ext cx="6229141" cy="1069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Major Project - I (18B19CI791) | AY 2025-26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Mid-Term Evaluation | Sept 29 – Oct 03, 2025.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7EDF-18D7-C792-681D-E69AE68A4AAB}"/>
              </a:ext>
            </a:extLst>
          </p:cNvPr>
          <p:cNvSpPr txBox="1"/>
          <p:nvPr/>
        </p:nvSpPr>
        <p:spPr>
          <a:xfrm>
            <a:off x="517798" y="4498606"/>
            <a:ext cx="3620582" cy="245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Group No.: </a:t>
            </a:r>
          </a:p>
          <a:p>
            <a:endParaRPr lang="en-IN" sz="1600" dirty="0">
              <a:latin typeface="Helvetica" pitchFamily="2" charset="0"/>
              <a:ea typeface="Palatino" pitchFamily="2" charset="77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Team Member (s)</a:t>
            </a:r>
            <a:endParaRPr lang="en-US" sz="1600" b="1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algn="ctr"/>
            <a:endParaRPr lang="en-US" sz="1600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2713F-9CAD-198F-43B7-75929E7A5424}"/>
              </a:ext>
            </a:extLst>
          </p:cNvPr>
          <p:cNvSpPr txBox="1"/>
          <p:nvPr/>
        </p:nvSpPr>
        <p:spPr>
          <a:xfrm>
            <a:off x="4871438" y="5041029"/>
            <a:ext cx="411832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</a:t>
            </a:r>
          </a:p>
          <a:p>
            <a:pPr marL="357188">
              <a:lnSpc>
                <a:spcPct val="125000"/>
              </a:lnSpc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14CA5-1CBF-7BB0-83BB-4FDA4318A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618C9-A35C-A359-4E30-21B6471F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>
            <a:extLst>
              <a:ext uri="{FF2B5EF4-FFF2-40B4-BE49-F238E27FC236}">
                <a16:creationId xmlns:a16="http://schemas.microsoft.com/office/drawing/2014/main" id="{7647374D-C05A-F866-81A8-19ED5262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7539BDE9-603E-4BD3-A201-EB56FD66F79C}"/>
              </a:ext>
            </a:extLst>
          </p:cNvPr>
          <p:cNvSpPr txBox="1">
            <a:spLocks/>
          </p:cNvSpPr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Jaypee University of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Introduction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Problem Statement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Objectives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Literature Review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Project Design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Tools, Technologies and Languages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Dataset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Implementation (if any)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Results (if any)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Key Learnings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Work Plan till End-Term Evaluation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400" dirty="0">
                <a:ea typeface="Palatino" pitchFamily="2" charset="77"/>
              </a:rPr>
              <a:t>Project Plan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Work Contribution and Attendance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Supervisor Interactions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400" dirty="0">
                <a:ea typeface="Palatino" pitchFamily="2" charset="77"/>
              </a:rPr>
              <a:t>References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400" kern="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for the project introduction.</a:t>
            </a:r>
          </a:p>
        </p:txBody>
      </p:sp>
    </p:spTree>
    <p:extLst>
      <p:ext uri="{BB962C8B-B14F-4D97-AF65-F5344CB8AC3E}">
        <p14:creationId xmlns:p14="http://schemas.microsoft.com/office/powerpoint/2010/main" val="35952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one slide for the problem statement.</a:t>
            </a:r>
          </a:p>
        </p:txBody>
      </p:sp>
    </p:spTree>
    <p:extLst>
      <p:ext uri="{BB962C8B-B14F-4D97-AF65-F5344CB8AC3E}">
        <p14:creationId xmlns:p14="http://schemas.microsoft.com/office/powerpoint/2010/main" val="292789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one slide for the objectives.</a:t>
            </a:r>
          </a:p>
        </p:txBody>
      </p:sp>
    </p:spTree>
    <p:extLst>
      <p:ext uri="{BB962C8B-B14F-4D97-AF65-F5344CB8AC3E}">
        <p14:creationId xmlns:p14="http://schemas.microsoft.com/office/powerpoint/2010/main" val="2560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25FF3-733E-7FFB-B98E-115B69886CF7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1C-6E0E-88C5-66A3-B524DCAA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0671-A451-62A6-6861-A0CBB876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A8BFBD-5585-5A38-BE37-37B3EE9F27F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94D322-3275-F1E8-F7CB-393836BD7150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12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68AD-2D17-3232-24A7-12A67A6A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A6A7-13C6-6620-A64F-1B943F0A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AD5CEA-3122-9816-6FD2-79A629EBE51B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7F5FD8-9273-F9B6-541B-18152AA7236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7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B29-338F-2CC5-CB7B-CE349253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9604-CF58-49D5-2EBA-43566555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7523C-8990-B920-ED90-F4134EBEE7A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4C4205-89F0-ED73-BA31-71FDF2EC3DB2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15.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16.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09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1AC5-F70F-BC11-CD23-238B648F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4527-B995-4090-178B-39BCD87C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307E8F-D0B3-507D-8095-564C9FAE91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855C7B-99A4-2F3C-C4F1-D8CBA11D4BE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49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892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1498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8B9-7821-8ACD-C792-3B5F23C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8411-792B-E2E6-69EC-2D600A8E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606774-D02D-0AA6-E33B-F48A47CAD52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7930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/>
              <a:t>Use a maximum of two slides to describe the tools, technologies, and programming languages to be used in the project, along with their version information for each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30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83E9-4D65-8F6A-A293-9964898E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428-D835-24F5-B739-88BAA5A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003AF-2ACF-683D-8024-26560017920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/>
              <a:t>Use a maximum of two slides to describe the tools, technologies, and programming languages to be used in the project, along with their version information for each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2468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Dataset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</a:t>
            </a:r>
            <a:r>
              <a:rPr lang="en-IN" dirty="0">
                <a:ea typeface="Palatino" pitchFamily="2" charset="77"/>
              </a:rPr>
              <a:t>one </a:t>
            </a:r>
            <a:r>
              <a:rPr lang="en-IN" sz="1800" dirty="0">
                <a:ea typeface="Palatino" pitchFamily="2" charset="77"/>
              </a:rPr>
              <a:t>slide to describe your dataset, if any.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Otherwise, leave this slide blank.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05819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to provide your implementation details, if any.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Otherwise, leave this slide blank.</a:t>
            </a:r>
          </a:p>
        </p:txBody>
      </p:sp>
    </p:spTree>
    <p:extLst>
      <p:ext uri="{BB962C8B-B14F-4D97-AF65-F5344CB8AC3E}">
        <p14:creationId xmlns:p14="http://schemas.microsoft.com/office/powerpoint/2010/main" val="3407709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0FA-E015-693D-5750-83EC8B7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EA1E-C26B-60E9-2BA3-86D1526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(if any)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84451-44FA-A9E5-6C25-938EFC57D3F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to show your preliminary experimental results, if any.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Otherwise, leave this slide blank.</a:t>
            </a:r>
          </a:p>
        </p:txBody>
      </p:sp>
    </p:spTree>
    <p:extLst>
      <p:ext uri="{BB962C8B-B14F-4D97-AF65-F5344CB8AC3E}">
        <p14:creationId xmlns:p14="http://schemas.microsoft.com/office/powerpoint/2010/main" val="3671605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23B-3B76-BB2D-540F-6407DD5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FD5-56CD-F03C-31B2-4139061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Key Learnings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8B0E23-28B9-A411-F2B9-0AAE335CE30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Use one slide to present key learnings, summarizing significant technical concepts, skills, and methodologies gained during the project.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Highlight outcomes such as</a:t>
            </a:r>
            <a:r>
              <a:rPr lang="en-IN" b="1" dirty="0"/>
              <a:t> blogs, open-source contributions, or certifications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1351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3876-A327-89E8-5925-E417551A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DCD2-A236-23D9-E151-3D3D3A17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Work Plan till End-Term Evaluation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B7E-41FA-08CF-E919-AE860B61B13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to describe your work plan till end-term evaluation</a:t>
            </a:r>
            <a:r>
              <a:rPr lang="en-IN" dirty="0">
                <a:ea typeface="Palatino" pitchFamily="2" charset="77"/>
              </a:rPr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7300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Plan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to show your project plan in the form of a Gantt Chart.</a:t>
            </a:r>
          </a:p>
        </p:txBody>
      </p:sp>
    </p:spTree>
    <p:extLst>
      <p:ext uri="{BB962C8B-B14F-4D97-AF65-F5344CB8AC3E}">
        <p14:creationId xmlns:p14="http://schemas.microsoft.com/office/powerpoint/2010/main" val="814278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0878-8FE6-6431-E84F-16336E6D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3DA-2CB4-07C6-001C-3A639B4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Contribution and Attendance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64F80-A98D-C3A6-300F-743060AF58A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ED005-6EC0-5EE2-8CB4-7008F054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68397"/>
              </p:ext>
            </p:extLst>
          </p:nvPr>
        </p:nvGraphicFramePr>
        <p:xfrm>
          <a:off x="110168" y="881350"/>
          <a:ext cx="8915266" cy="53232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1264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87906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426540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1693280867"/>
                    </a:ext>
                  </a:extLst>
                </a:gridCol>
                <a:gridCol w="786550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32934039"/>
                    </a:ext>
                  </a:extLst>
                </a:gridCol>
              </a:tblGrid>
              <a:tr h="507388">
                <a:tc gridSpan="6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GitHub Repository URL: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37965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Team Member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Roll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Done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(provide complete details)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Contribution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Lines of Code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(if any)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Lab Attendance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1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st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2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nd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3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rd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4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th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8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8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194-9C46-7B10-5D70-B9C3D98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75B-8D9F-C28E-9A27-5277584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 </a:t>
            </a:r>
            <a:r>
              <a:rPr lang="en-IN" b="0" dirty="0">
                <a:ea typeface="Palatino" pitchFamily="2" charset="77"/>
              </a:rPr>
              <a:t>(as mentioned in weekly log)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A942A6-C262-448C-36C3-8A22D5548AE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BA634-6669-9F87-EF31-1C4579404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07602"/>
              </p:ext>
            </p:extLst>
          </p:nvPr>
        </p:nvGraphicFramePr>
        <p:xfrm>
          <a:off x="110168" y="881350"/>
          <a:ext cx="8835528" cy="5073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4260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No. of Meetings with Supervisor: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71582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912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E7F-6D85-EBF6-EAD4-18BE8EC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F7BF-D279-302B-94BF-3DB4010A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75676-26F3-304D-6B9E-B3644390EFB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900DB-DF9E-B5EC-0B92-06A7F239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704002"/>
              </p:ext>
            </p:extLst>
          </p:nvPr>
        </p:nvGraphicFramePr>
        <p:xfrm>
          <a:off x="110168" y="881350"/>
          <a:ext cx="8835528" cy="4647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40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/>
              <a:t>Use max. three slides to provide a comprehensive list of at least 25 references in </a:t>
            </a:r>
            <a:r>
              <a:rPr lang="en-IN" sz="1400" b="1" dirty="0"/>
              <a:t>IEEE format</a:t>
            </a:r>
            <a:r>
              <a:rPr lang="en-IN" sz="1400" dirty="0"/>
              <a:t>, </a:t>
            </a:r>
            <a:r>
              <a:rPr lang="en-IN" sz="1400" b="1" dirty="0"/>
              <a:t>which are duly cited in the PPT</a:t>
            </a:r>
            <a:r>
              <a:rPr lang="en-IN" sz="1400" dirty="0"/>
              <a:t>, including journal articles, conference papers, book chapters, websites, blogs, etc. 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/>
              <a:t>Ensure the references are </a:t>
            </a:r>
            <a:r>
              <a:rPr lang="en-IN" sz="1400" b="1" dirty="0"/>
              <a:t>accurate and properly formatted</a:t>
            </a:r>
            <a:r>
              <a:rPr lang="en-IN" sz="1400" dirty="0"/>
              <a:t>.</a:t>
            </a:r>
          </a:p>
          <a:p>
            <a:pPr marL="357188" indent="-261938"/>
            <a:r>
              <a:rPr lang="en-IN" sz="1400" dirty="0"/>
              <a:t>See </a:t>
            </a:r>
            <a:r>
              <a:rPr lang="en-IN" sz="1400" b="1" dirty="0"/>
              <a:t>sample</a:t>
            </a:r>
            <a:r>
              <a:rPr lang="en-IN" sz="1400" dirty="0"/>
              <a:t> references on slide 26. Replace these with your own references.</a:t>
            </a:r>
            <a:endParaRPr lang="en-IN" sz="14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2175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0791-3F4D-C8EA-6632-B1C3EC8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DADB-37A7-3298-E4FE-623C4511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A155F-E9D3-CE9B-ED58-F6066AA93EA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400" dirty="0"/>
              <a:t>Use max. three slides to provide a comprehensive list of at least 25 references in </a:t>
            </a:r>
            <a:r>
              <a:rPr lang="en-IN" sz="1400" b="1" dirty="0"/>
              <a:t>IEEE format</a:t>
            </a:r>
            <a:r>
              <a:rPr lang="en-IN" sz="1400" dirty="0"/>
              <a:t>, </a:t>
            </a:r>
            <a:r>
              <a:rPr lang="en-IN" sz="1400" b="1" dirty="0"/>
              <a:t>which are duly cited in the PPT</a:t>
            </a:r>
            <a:r>
              <a:rPr lang="en-IN" sz="1400" dirty="0"/>
              <a:t>, including journal articles, conference papers, book chapters, websites, blogs, etc. </a:t>
            </a:r>
          </a:p>
          <a:p>
            <a:pPr marL="357188" indent="-261938"/>
            <a:r>
              <a:rPr lang="en-IN" sz="1400" dirty="0"/>
              <a:t>Ensure the references are </a:t>
            </a:r>
            <a:r>
              <a:rPr lang="en-IN" sz="1400" b="1" dirty="0"/>
              <a:t>accurate and properly formatted</a:t>
            </a:r>
            <a:r>
              <a:rPr lang="en-IN" sz="1400" dirty="0"/>
              <a:t>.</a:t>
            </a:r>
          </a:p>
          <a:p>
            <a:pPr marL="357188" indent="-261938"/>
            <a:r>
              <a:rPr lang="en-IN" sz="1400" dirty="0"/>
              <a:t>See </a:t>
            </a:r>
            <a:r>
              <a:rPr lang="en-IN" sz="1400" b="1" dirty="0"/>
              <a:t>sample</a:t>
            </a:r>
            <a:r>
              <a:rPr lang="en-IN" sz="1400" dirty="0"/>
              <a:t> references on slide 26. Replace these with your own references.</a:t>
            </a:r>
            <a:endParaRPr lang="en-IN" sz="14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65737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06400" indent="-398463">
              <a:buNone/>
              <a:tabLst>
                <a:tab pos="350838" algn="l"/>
                <a:tab pos="398463" algn="l"/>
              </a:tabLst>
            </a:pPr>
            <a:r>
              <a:rPr lang="en-IN" sz="1300" dirty="0"/>
              <a:t>[1] 	Y. LeCun, Y. Bengio, and G. E. Hinton, "Deep learning," </a:t>
            </a:r>
            <a:r>
              <a:rPr lang="en-IN" sz="1300" i="1" dirty="0"/>
              <a:t>Nature</a:t>
            </a:r>
            <a:r>
              <a:rPr lang="en-IN" sz="1300" dirty="0"/>
              <a:t>, vol. 521, no. 7553, pp. 436–444, May 2015.</a:t>
            </a:r>
          </a:p>
          <a:p>
            <a:pPr marL="406400" indent="-398463">
              <a:buNone/>
            </a:pPr>
            <a:r>
              <a:rPr lang="en-IN" sz="1300" dirty="0"/>
              <a:t>[2] 	D. Silver, J. </a:t>
            </a:r>
            <a:r>
              <a:rPr lang="en-IN" sz="1300" dirty="0" err="1"/>
              <a:t>Schrittwieser</a:t>
            </a:r>
            <a:r>
              <a:rPr lang="en-IN" sz="1300" dirty="0"/>
              <a:t>, K. Simonyan, et al., "Mastering the game of Go with deep neural networks and tree search," </a:t>
            </a:r>
            <a:r>
              <a:rPr lang="en-IN" sz="1300" i="1" dirty="0"/>
              <a:t>Nature</a:t>
            </a:r>
            <a:r>
              <a:rPr lang="en-IN" sz="1300" dirty="0"/>
              <a:t>, vol. 529, no. 7587, pp. 484–489, Jan. 2016.</a:t>
            </a:r>
          </a:p>
          <a:p>
            <a:pPr marL="406400" indent="-398463">
              <a:buNone/>
            </a:pPr>
            <a:r>
              <a:rPr lang="en-IN" sz="1300" dirty="0"/>
              <a:t>[3]	A. Vaswani, N. </a:t>
            </a:r>
            <a:r>
              <a:rPr lang="en-IN" sz="1300" dirty="0" err="1"/>
              <a:t>Shazeer</a:t>
            </a:r>
            <a:r>
              <a:rPr lang="en-IN" sz="1300" dirty="0"/>
              <a:t>, N. Parmar, et al., "Attention Is All You Need," in </a:t>
            </a:r>
            <a:r>
              <a:rPr lang="en-IN" sz="1300" i="1" dirty="0"/>
              <a:t>Proc. Advances in Neural Information Processing Systems (</a:t>
            </a:r>
            <a:r>
              <a:rPr lang="en-IN" sz="1300" i="1" dirty="0" err="1"/>
              <a:t>NeurIPS</a:t>
            </a:r>
            <a:r>
              <a:rPr lang="en-IN" sz="1300" i="1" dirty="0"/>
              <a:t>)</a:t>
            </a:r>
            <a:r>
              <a:rPr lang="en-IN" sz="1300" dirty="0"/>
              <a:t>, Long Beach, CA, USA, 2017, pp. 5998–6008.</a:t>
            </a:r>
          </a:p>
          <a:p>
            <a:pPr marL="406400" indent="-398463">
              <a:buNone/>
            </a:pPr>
            <a:r>
              <a:rPr lang="en-IN" sz="1300" dirty="0"/>
              <a:t>[4] 	S. J. Russell and P. Norvig, "Search in Complex Environments," in </a:t>
            </a:r>
            <a:r>
              <a:rPr lang="en-IN" sz="1300" i="1" dirty="0"/>
              <a:t>Artificial Intelligence: A Modern Approach</a:t>
            </a:r>
            <a:r>
              <a:rPr lang="en-IN" sz="1300" dirty="0"/>
              <a:t>, 4th ed. Upper Saddle River, NJ, USA: Pearson, 2020, </a:t>
            </a:r>
            <a:r>
              <a:rPr lang="en-IN" sz="1300" dirty="0" err="1"/>
              <a:t>ch.</a:t>
            </a:r>
            <a:r>
              <a:rPr lang="en-IN" sz="1300" dirty="0"/>
              <a:t> 4, pp. 127–180.</a:t>
            </a:r>
          </a:p>
          <a:p>
            <a:pPr marL="406400" indent="-398463">
              <a:buNone/>
            </a:pPr>
            <a:r>
              <a:rPr lang="en-IN" sz="1300" dirty="0"/>
              <a:t>[6]	I. Goodfellow, Y. Bengio, and A. Courville, "Optimization for Training Deep Models," in </a:t>
            </a:r>
            <a:r>
              <a:rPr lang="en-IN" sz="1300" i="1" dirty="0"/>
              <a:t>Deep Learning</a:t>
            </a:r>
            <a:r>
              <a:rPr lang="en-IN" sz="1300" dirty="0"/>
              <a:t>. Cambridge, MA, USA: MIT Press, 2016, </a:t>
            </a:r>
            <a:r>
              <a:rPr lang="en-IN" sz="1300" dirty="0" err="1"/>
              <a:t>ch.</a:t>
            </a:r>
            <a:r>
              <a:rPr lang="en-IN" sz="1300" dirty="0"/>
              <a:t> 8, pp. 271–322.</a:t>
            </a:r>
          </a:p>
          <a:p>
            <a:pPr marL="406400" indent="-398463">
              <a:buNone/>
            </a:pPr>
            <a:r>
              <a:rPr lang="en-IN" sz="1300" dirty="0"/>
              <a:t>[7]	OpenAI, "GPT-4 Technical Report," Mar. 2023. [Online]. Available: https://arxiv.org/abs/2303.08774</a:t>
            </a:r>
          </a:p>
          <a:p>
            <a:pPr marL="406400" indent="-398463">
              <a:buNone/>
            </a:pPr>
            <a:r>
              <a:rPr lang="en-IN" sz="1300" dirty="0"/>
              <a:t>[8]	DeepMind, "AlphaFold: Revolutionizing Biology with AI," July 2021. [Online]. Available: https://www.deepmind.com/research/highlighted-research/alphafold</a:t>
            </a:r>
          </a:p>
          <a:p>
            <a:pPr marL="406400" indent="-398463">
              <a:buNone/>
            </a:pPr>
            <a:r>
              <a:rPr lang="en-IN" sz="1300" dirty="0"/>
              <a:t>[9]	A. </a:t>
            </a:r>
            <a:r>
              <a:rPr lang="en-IN" sz="1300" dirty="0" err="1"/>
              <a:t>Karpathy</a:t>
            </a:r>
            <a:r>
              <a:rPr lang="en-IN" sz="1300" dirty="0"/>
              <a:t>, "The Unreasonable Effectiveness of Recurrent Neural Networks," </a:t>
            </a:r>
            <a:r>
              <a:rPr lang="en-IN" sz="1300" i="1" dirty="0"/>
              <a:t>Andrej </a:t>
            </a:r>
            <a:r>
              <a:rPr lang="en-IN" sz="1300" i="1" dirty="0" err="1"/>
              <a:t>Karpathy’s</a:t>
            </a:r>
            <a:r>
              <a:rPr lang="en-IN" sz="1300" i="1" dirty="0"/>
              <a:t> Blog</a:t>
            </a:r>
            <a:r>
              <a:rPr lang="en-IN" sz="1300" dirty="0"/>
              <a:t>, May 21, 2015. [Online]. Available: http://karpathy.github.io/2015/05/21/rnn-effectiveness/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5227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</a:p>
        </p:txBody>
      </p:sp>
      <p:pic>
        <p:nvPicPr>
          <p:cNvPr id="1034" name="Picture 10" descr="🙏">
            <a:extLst>
              <a:ext uri="{FF2B5EF4-FFF2-40B4-BE49-F238E27FC236}">
                <a16:creationId xmlns:a16="http://schemas.microsoft.com/office/drawing/2014/main" id="{75E1F11E-915E-CA0A-3D1E-80341D39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2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21329</TotalTime>
  <Words>1521</Words>
  <Application>Microsoft Macintosh PowerPoint</Application>
  <PresentationFormat>On-screen Show (4:3)</PresentationFormat>
  <Paragraphs>287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MS PGothic</vt:lpstr>
      <vt:lpstr>Arial</vt:lpstr>
      <vt:lpstr>Calibri</vt:lpstr>
      <vt:lpstr>Calibri Light</vt:lpstr>
      <vt:lpstr>Courier New</vt:lpstr>
      <vt:lpstr>Helvetica</vt:lpstr>
      <vt:lpstr>Palatino</vt:lpstr>
      <vt:lpstr>Tahoma</vt:lpstr>
      <vt:lpstr>Times New Roman</vt:lpstr>
      <vt:lpstr>Verdana</vt:lpstr>
      <vt:lpstr>Webdings</vt:lpstr>
      <vt:lpstr>1_os-8</vt:lpstr>
      <vt:lpstr>Custom Design</vt:lpstr>
      <vt:lpstr>Project Title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Literature Review (cont…)</vt:lpstr>
      <vt:lpstr>Literature Review (cont…)</vt:lpstr>
      <vt:lpstr>Literature Review (cont…)</vt:lpstr>
      <vt:lpstr>Project Design</vt:lpstr>
      <vt:lpstr>Project Design (cont…)</vt:lpstr>
      <vt:lpstr>Project Design (cont…)</vt:lpstr>
      <vt:lpstr>Tools, Technologies and Languages</vt:lpstr>
      <vt:lpstr>Tools, Technologies and Languages (cont…)</vt:lpstr>
      <vt:lpstr>Dataset</vt:lpstr>
      <vt:lpstr>Implementation (if any)</vt:lpstr>
      <vt:lpstr>Experimental Results (if any)</vt:lpstr>
      <vt:lpstr>Key Learnings</vt:lpstr>
      <vt:lpstr>Work Plan till End-Term Evaluation</vt:lpstr>
      <vt:lpstr>Project Plan</vt:lpstr>
      <vt:lpstr>Work Contribution and Attendance</vt:lpstr>
      <vt:lpstr>Supervisor Interactions (as mentioned in weekly log)</vt:lpstr>
      <vt:lpstr>Supervisor Interactions (cont…)</vt:lpstr>
      <vt:lpstr>References</vt:lpstr>
      <vt:lpstr>References (cont…)</vt:lpstr>
      <vt:lpstr>References (cont…)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Sanjay Jain Sanjay Jain</cp:lastModifiedBy>
  <cp:revision>1487</cp:revision>
  <cp:lastPrinted>2025-09-08T06:45:20Z</cp:lastPrinted>
  <dcterms:created xsi:type="dcterms:W3CDTF">2008-07-20T15:16:37Z</dcterms:created>
  <dcterms:modified xsi:type="dcterms:W3CDTF">2025-09-08T11:26:10Z</dcterms:modified>
</cp:coreProperties>
</file>